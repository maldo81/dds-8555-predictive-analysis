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6553D"/>
                </a:solidFill>
              </a:defRPr>
            </a:pPr>
            <a: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0789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23272F"/>
                </a:solidFill>
              </a:defRPr>
            </a:pPr>
            <a:r>
              <a:t>DDS-8555 Signature Assignment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98755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216F7A"/>
                </a:solidFill>
              </a:defRPr>
            </a:pPr>
            <a:r>
              <a:t>Forecasting, regression, and crime classification required different model families.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587752"/>
            <a:ext cx="109728" cy="109728"/>
          </a:xfrm>
          <a:prstGeom prst="rect">
            <a:avLst/>
          </a:prstGeom>
          <a:solidFill>
            <a:srgbClr val="A6553D"/>
          </a:solidFill>
          <a:ln>
            <a:solidFill>
              <a:srgbClr val="A65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514600"/>
            <a:ext cx="9875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23272F"/>
                </a:solidFill>
              </a:defRPr>
            </a:pPr>
            <a:r>
              <a:t>Store Sales: ETS and ARIMA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502152"/>
            <a:ext cx="109728" cy="109728"/>
          </a:xfrm>
          <a:prstGeom prst="rect">
            <a:avLst/>
          </a:prstGeom>
          <a:solidFill>
            <a:srgbClr val="A6553D"/>
          </a:solidFill>
          <a:ln>
            <a:solidFill>
              <a:srgbClr val="A65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34440" y="3429000"/>
            <a:ext cx="9875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23272F"/>
                </a:solidFill>
              </a:defRPr>
            </a:pPr>
            <a:r>
              <a:t>House Prices: ridge and gradient boosting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4416552"/>
            <a:ext cx="109728" cy="109728"/>
          </a:xfrm>
          <a:prstGeom prst="rect">
            <a:avLst/>
          </a:prstGeom>
          <a:solidFill>
            <a:srgbClr val="A6553D"/>
          </a:solidFill>
          <a:ln>
            <a:solidFill>
              <a:srgbClr val="A65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34440" y="4343400"/>
            <a:ext cx="9875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23272F"/>
                </a:solidFill>
              </a:defRPr>
            </a:pPr>
            <a:r>
              <a:t>SF Crime: decision tree, random forest, linear SVM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4652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6464"/>
                </a:solidFill>
              </a:defRPr>
            </a:pPr>
            <a:r>
              <a:t>Juan Maldonado Franco | DDS-8555 Predictive Analysis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6553D"/>
                </a:solidFill>
              </a:defRPr>
            </a:pPr>
            <a: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0789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23272F"/>
                </a:solidFill>
              </a:defRPr>
            </a:pPr>
            <a:r>
              <a:t>Assignment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98755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216F7A"/>
                </a:solidFill>
              </a:defRPr>
            </a:pPr>
            <a:r>
              <a:t>The work was organized around the prediction problem rather than one universal modeling recipe.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587752"/>
            <a:ext cx="109728" cy="109728"/>
          </a:xfrm>
          <a:prstGeom prst="rect">
            <a:avLst/>
          </a:prstGeom>
          <a:solidFill>
            <a:srgbClr val="A6553D"/>
          </a:solidFill>
          <a:ln>
            <a:solidFill>
              <a:srgbClr val="A65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514600"/>
            <a:ext cx="9875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23272F"/>
                </a:solidFill>
              </a:defRPr>
            </a:pPr>
            <a:r>
              <a:t>Time series preserved temporal order.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502152"/>
            <a:ext cx="109728" cy="109728"/>
          </a:xfrm>
          <a:prstGeom prst="rect">
            <a:avLst/>
          </a:prstGeom>
          <a:solidFill>
            <a:srgbClr val="A6553D"/>
          </a:solidFill>
          <a:ln>
            <a:solidFill>
              <a:srgbClr val="A65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34440" y="3429000"/>
            <a:ext cx="9875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23272F"/>
                </a:solidFill>
              </a:defRPr>
            </a:pPr>
            <a:r>
              <a:t>Regression used transformations and shrinkage.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4416552"/>
            <a:ext cx="109728" cy="109728"/>
          </a:xfrm>
          <a:prstGeom prst="rect">
            <a:avLst/>
          </a:prstGeom>
          <a:solidFill>
            <a:srgbClr val="A6553D"/>
          </a:solidFill>
          <a:ln>
            <a:solidFill>
              <a:srgbClr val="A65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34440" y="4343400"/>
            <a:ext cx="9875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23272F"/>
                </a:solidFill>
              </a:defRPr>
            </a:pPr>
            <a:r>
              <a:t>Classification used probability-producing models.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4652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6464"/>
                </a:solidFill>
              </a:defRPr>
            </a:pPr>
            <a:r>
              <a:t>Juan Maldonado Franco | DDS-8555 Predictive Analysis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6553D"/>
                </a:solidFill>
              </a:defRPr>
            </a:pPr>
            <a: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0789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23272F"/>
                </a:solidFill>
              </a:defRPr>
            </a:pPr>
            <a:r>
              <a:t>Store Sales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98755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216F7A"/>
                </a:solidFill>
              </a:defRPr>
            </a:pPr>
            <a:r>
              <a:t>ETS produced the stronger public score than ARIMA.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587752"/>
            <a:ext cx="109728" cy="109728"/>
          </a:xfrm>
          <a:prstGeom prst="rect">
            <a:avLst/>
          </a:prstGeom>
          <a:solidFill>
            <a:srgbClr val="A6553D"/>
          </a:solidFill>
          <a:ln>
            <a:solidFill>
              <a:srgbClr val="A65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514600"/>
            <a:ext cx="9875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23272F"/>
                </a:solidFill>
              </a:defRPr>
            </a:pPr>
            <a:r>
              <a:t>ETS public score: 0.62223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502152"/>
            <a:ext cx="109728" cy="109728"/>
          </a:xfrm>
          <a:prstGeom prst="rect">
            <a:avLst/>
          </a:prstGeom>
          <a:solidFill>
            <a:srgbClr val="A6553D"/>
          </a:solidFill>
          <a:ln>
            <a:solidFill>
              <a:srgbClr val="A65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34440" y="3429000"/>
            <a:ext cx="9875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23272F"/>
                </a:solidFill>
              </a:defRPr>
            </a:pPr>
            <a:r>
              <a:t>ARIMA public score: 0.64770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4416552"/>
            <a:ext cx="109728" cy="109728"/>
          </a:xfrm>
          <a:prstGeom prst="rect">
            <a:avLst/>
          </a:prstGeom>
          <a:solidFill>
            <a:srgbClr val="A6553D"/>
          </a:solidFill>
          <a:ln>
            <a:solidFill>
              <a:srgbClr val="A65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34440" y="4343400"/>
            <a:ext cx="9875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23272F"/>
                </a:solidFill>
              </a:defRPr>
            </a:pPr>
            <a:r>
              <a:t>Forecasts were allocated from family totals to store-family rows.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4652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6464"/>
                </a:solidFill>
              </a:defRPr>
            </a:pPr>
            <a:r>
              <a:t>Juan Maldonado Franco | DDS-8555 Predictive Analysis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6553D"/>
                </a:solidFill>
              </a:defRPr>
            </a:pPr>
            <a: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0789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23272F"/>
                </a:solidFill>
              </a:defRPr>
            </a:pPr>
            <a:r>
              <a:t>House Prices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98755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216F7A"/>
                </a:solidFill>
              </a:defRPr>
            </a:pPr>
            <a:r>
              <a:t>Gradient boosting handled nonlinear housing effects better than ridge.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587752"/>
            <a:ext cx="109728" cy="109728"/>
          </a:xfrm>
          <a:prstGeom prst="rect">
            <a:avLst/>
          </a:prstGeom>
          <a:solidFill>
            <a:srgbClr val="A6553D"/>
          </a:solidFill>
          <a:ln>
            <a:solidFill>
              <a:srgbClr val="A65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514600"/>
            <a:ext cx="9875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23272F"/>
                </a:solidFill>
              </a:defRPr>
            </a:pPr>
            <a:r>
              <a:t>Ridge public score: 0.13303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502152"/>
            <a:ext cx="109728" cy="109728"/>
          </a:xfrm>
          <a:prstGeom prst="rect">
            <a:avLst/>
          </a:prstGeom>
          <a:solidFill>
            <a:srgbClr val="A6553D"/>
          </a:solidFill>
          <a:ln>
            <a:solidFill>
              <a:srgbClr val="A65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34440" y="3429000"/>
            <a:ext cx="9875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23272F"/>
                </a:solidFill>
              </a:defRPr>
            </a:pPr>
            <a:r>
              <a:t>Gradient boosting public score: 0.12930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4416552"/>
            <a:ext cx="109728" cy="109728"/>
          </a:xfrm>
          <a:prstGeom prst="rect">
            <a:avLst/>
          </a:prstGeom>
          <a:solidFill>
            <a:srgbClr val="A6553D"/>
          </a:solidFill>
          <a:ln>
            <a:solidFill>
              <a:srgbClr val="A65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34440" y="4343400"/>
            <a:ext cx="9875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23272F"/>
                </a:solidFill>
              </a:defRPr>
            </a:pPr>
            <a:r>
              <a:t>Feature work included indicators, interactions, transformations, and dimension reduction.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4652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6464"/>
                </a:solidFill>
              </a:defRPr>
            </a:pPr>
            <a:r>
              <a:t>Juan Maldonado Franco | DDS-8555 Predictive Analysis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6553D"/>
                </a:solidFill>
              </a:defRPr>
            </a:pPr>
            <a: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0789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23272F"/>
                </a:solidFill>
              </a:defRPr>
            </a:pPr>
            <a:r>
              <a:t>SF Crime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98755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216F7A"/>
                </a:solidFill>
              </a:defRPr>
            </a:pPr>
            <a:r>
              <a:t>Random forest was the strongest crime classifier among the submitted models.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587752"/>
            <a:ext cx="109728" cy="109728"/>
          </a:xfrm>
          <a:prstGeom prst="rect">
            <a:avLst/>
          </a:prstGeom>
          <a:solidFill>
            <a:srgbClr val="A6553D"/>
          </a:solidFill>
          <a:ln>
            <a:solidFill>
              <a:srgbClr val="A65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514600"/>
            <a:ext cx="9875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23272F"/>
                </a:solidFill>
              </a:defRPr>
            </a:pPr>
            <a:r>
              <a:t>Decision tree log loss: 6.06082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502152"/>
            <a:ext cx="109728" cy="109728"/>
          </a:xfrm>
          <a:prstGeom prst="rect">
            <a:avLst/>
          </a:prstGeom>
          <a:solidFill>
            <a:srgbClr val="A6553D"/>
          </a:solidFill>
          <a:ln>
            <a:solidFill>
              <a:srgbClr val="A65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34440" y="3429000"/>
            <a:ext cx="9875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23272F"/>
                </a:solidFill>
              </a:defRPr>
            </a:pPr>
            <a:r>
              <a:t>Random forest log loss: 2.48088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4416552"/>
            <a:ext cx="109728" cy="109728"/>
          </a:xfrm>
          <a:prstGeom prst="rect">
            <a:avLst/>
          </a:prstGeom>
          <a:solidFill>
            <a:srgbClr val="A6553D"/>
          </a:solidFill>
          <a:ln>
            <a:solidFill>
              <a:srgbClr val="A65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34440" y="4343400"/>
            <a:ext cx="9875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23272F"/>
                </a:solidFill>
              </a:defRPr>
            </a:pPr>
            <a:r>
              <a:t>Linear SVM log loss: 3.48916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4652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6464"/>
                </a:solidFill>
              </a:defRPr>
            </a:pPr>
            <a:r>
              <a:t>Juan Maldonado Franco | DDS-8555 Predictive Analysis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6553D"/>
                </a:solidFill>
              </a:defRPr>
            </a:pPr>
            <a: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0789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23272F"/>
                </a:solidFill>
              </a:defRPr>
            </a:pPr>
            <a:r>
              <a:t>Assumption Checks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98755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216F7A"/>
                </a:solidFill>
              </a:defRPr>
            </a:pPr>
            <a:r>
              <a:t>The diagnostics changed by model family because the risks changed by task.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587752"/>
            <a:ext cx="109728" cy="109728"/>
          </a:xfrm>
          <a:prstGeom prst="rect">
            <a:avLst/>
          </a:prstGeom>
          <a:solidFill>
            <a:srgbClr val="A6553D"/>
          </a:solidFill>
          <a:ln>
            <a:solidFill>
              <a:srgbClr val="A65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514600"/>
            <a:ext cx="9875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23272F"/>
                </a:solidFill>
              </a:defRPr>
            </a:pPr>
            <a:r>
              <a:t>Forecasting: time order, residual structure, seasonality.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502152"/>
            <a:ext cx="109728" cy="109728"/>
          </a:xfrm>
          <a:prstGeom prst="rect">
            <a:avLst/>
          </a:prstGeom>
          <a:solidFill>
            <a:srgbClr val="A6553D"/>
          </a:solidFill>
          <a:ln>
            <a:solidFill>
              <a:srgbClr val="A65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34440" y="3429000"/>
            <a:ext cx="9875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23272F"/>
                </a:solidFill>
              </a:defRPr>
            </a:pPr>
            <a:r>
              <a:t>Regression: collinearity, transformation fit, validation error.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4416552"/>
            <a:ext cx="109728" cy="109728"/>
          </a:xfrm>
          <a:prstGeom prst="rect">
            <a:avLst/>
          </a:prstGeom>
          <a:solidFill>
            <a:srgbClr val="A6553D"/>
          </a:solidFill>
          <a:ln>
            <a:solidFill>
              <a:srgbClr val="A65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34440" y="4343400"/>
            <a:ext cx="9875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23272F"/>
                </a:solidFill>
              </a:defRPr>
            </a:pPr>
            <a:r>
              <a:t>Classification: imbalance, calibration, held-out accuracy/log loss.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4652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6464"/>
                </a:solidFill>
              </a:defRPr>
            </a:pPr>
            <a:r>
              <a:t>Juan Maldonado Franco | DDS-8555 Predictive Analysis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6553D"/>
                </a:solidFill>
              </a:defRPr>
            </a:pPr>
            <a: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0789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23272F"/>
                </a:solidFill>
              </a:defRPr>
            </a:pPr>
            <a:r>
              <a:t>Submission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98755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216F7A"/>
                </a:solidFill>
              </a:defRPr>
            </a:pPr>
            <a:r>
              <a:t>All required Kaggle submissions completed.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587752"/>
            <a:ext cx="109728" cy="109728"/>
          </a:xfrm>
          <a:prstGeom prst="rect">
            <a:avLst/>
          </a:prstGeom>
          <a:solidFill>
            <a:srgbClr val="A6553D"/>
          </a:solidFill>
          <a:ln>
            <a:solidFill>
              <a:srgbClr val="A65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514600"/>
            <a:ext cx="9875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23272F"/>
                </a:solidFill>
              </a:defRPr>
            </a:pPr>
            <a:r>
              <a:t>6 Abalone regression submissions across Weeks 2-4.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502152"/>
            <a:ext cx="109728" cy="109728"/>
          </a:xfrm>
          <a:prstGeom prst="rect">
            <a:avLst/>
          </a:prstGeom>
          <a:solidFill>
            <a:srgbClr val="A6553D"/>
          </a:solidFill>
          <a:ln>
            <a:solidFill>
              <a:srgbClr val="A65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34440" y="3429000"/>
            <a:ext cx="9875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23272F"/>
                </a:solidFill>
              </a:defRPr>
            </a:pPr>
            <a:r>
              <a:t>8 Obesity classification submissions across Weeks 5-6.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4416552"/>
            <a:ext cx="109728" cy="109728"/>
          </a:xfrm>
          <a:prstGeom prst="rect">
            <a:avLst/>
          </a:prstGeom>
          <a:solidFill>
            <a:srgbClr val="A6553D"/>
          </a:solidFill>
          <a:ln>
            <a:solidFill>
              <a:srgbClr val="A65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34440" y="4343400"/>
            <a:ext cx="9875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23272F"/>
                </a:solidFill>
              </a:defRPr>
            </a:pPr>
            <a:r>
              <a:t>7 signature assignment submissions across Store, House, and SF Crime.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4652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6464"/>
                </a:solidFill>
              </a:defRPr>
            </a:pPr>
            <a:r>
              <a:t>Juan Maldonado Franco | DDS-8555 Predictive Analysis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6553D"/>
                </a:solidFill>
              </a:defRPr>
            </a:pPr>
            <a:r>
              <a:t>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0789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23272F"/>
                </a:solidFill>
              </a:defRPr>
            </a:pPr>
            <a:r>
              <a:t>Main Finding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98755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216F7A"/>
                </a:solidFill>
              </a:defRPr>
            </a:pPr>
            <a:r>
              <a:t>Flexible models helped when the data structure justified the added complexity.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587752"/>
            <a:ext cx="109728" cy="109728"/>
          </a:xfrm>
          <a:prstGeom prst="rect">
            <a:avLst/>
          </a:prstGeom>
          <a:solidFill>
            <a:srgbClr val="A6553D"/>
          </a:solidFill>
          <a:ln>
            <a:solidFill>
              <a:srgbClr val="A65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514600"/>
            <a:ext cx="9875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23272F"/>
                </a:solidFill>
              </a:defRPr>
            </a:pPr>
            <a:r>
              <a:t>Random forest beat the single tree in crime classification.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502152"/>
            <a:ext cx="109728" cy="109728"/>
          </a:xfrm>
          <a:prstGeom prst="rect">
            <a:avLst/>
          </a:prstGeom>
          <a:solidFill>
            <a:srgbClr val="A6553D"/>
          </a:solidFill>
          <a:ln>
            <a:solidFill>
              <a:srgbClr val="A65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34440" y="3429000"/>
            <a:ext cx="9875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23272F"/>
                </a:solidFill>
              </a:defRPr>
            </a:pPr>
            <a:r>
              <a:t>Gradient boosting beat ridge in House Prices.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4416552"/>
            <a:ext cx="109728" cy="109728"/>
          </a:xfrm>
          <a:prstGeom prst="rect">
            <a:avLst/>
          </a:prstGeom>
          <a:solidFill>
            <a:srgbClr val="A6553D"/>
          </a:solidFill>
          <a:ln>
            <a:solidFill>
              <a:srgbClr val="A65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34440" y="4343400"/>
            <a:ext cx="9875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23272F"/>
                </a:solidFill>
              </a:defRPr>
            </a:pPr>
            <a:r>
              <a:t>ETS beat ARIMA in Store Sales for this submission set.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4652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6464"/>
                </a:solidFill>
              </a:defRPr>
            </a:pPr>
            <a:r>
              <a:t>Juan Maldonado Franco | DDS-8555 Predictive Analysis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6553D"/>
                </a:solidFill>
              </a:defRPr>
            </a:pPr>
            <a:r>
              <a:t>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0789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23272F"/>
                </a:solidFill>
              </a:defRPr>
            </a:pPr>
            <a:r>
              <a:t>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98755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216F7A"/>
                </a:solidFill>
              </a:defRPr>
            </a:pPr>
            <a:r>
              <a:t>The results are useful first-pass models, not final production systems.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587752"/>
            <a:ext cx="109728" cy="109728"/>
          </a:xfrm>
          <a:prstGeom prst="rect">
            <a:avLst/>
          </a:prstGeom>
          <a:solidFill>
            <a:srgbClr val="A6553D"/>
          </a:solidFill>
          <a:ln>
            <a:solidFill>
              <a:srgbClr val="A65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514600"/>
            <a:ext cx="9875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23272F"/>
                </a:solidFill>
              </a:defRPr>
            </a:pPr>
            <a:r>
              <a:t>SF Crime class imbalance affects probability quality.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502152"/>
            <a:ext cx="109728" cy="109728"/>
          </a:xfrm>
          <a:prstGeom prst="rect">
            <a:avLst/>
          </a:prstGeom>
          <a:solidFill>
            <a:srgbClr val="A6553D"/>
          </a:solidFill>
          <a:ln>
            <a:solidFill>
              <a:srgbClr val="A65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34440" y="3429000"/>
            <a:ext cx="9875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23272F"/>
                </a:solidFill>
              </a:defRPr>
            </a:pPr>
            <a:r>
              <a:t>Store allocation depends on recent share assumptions.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4416552"/>
            <a:ext cx="109728" cy="109728"/>
          </a:xfrm>
          <a:prstGeom prst="rect">
            <a:avLst/>
          </a:prstGeom>
          <a:solidFill>
            <a:srgbClr val="A6553D"/>
          </a:solidFill>
          <a:ln>
            <a:solidFill>
              <a:srgbClr val="A65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34440" y="4343400"/>
            <a:ext cx="9875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23272F"/>
                </a:solidFill>
              </a:defRPr>
            </a:pPr>
            <a:r>
              <a:t>House Prices could benefit from more feature-specific diagnostics.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4652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6464"/>
                </a:solidFill>
              </a:defRPr>
            </a:pPr>
            <a:r>
              <a:t>Juan Maldonado Franco | DDS-8555 Predictive Analysis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6553D"/>
                </a:solidFill>
              </a:defRPr>
            </a:pPr>
            <a: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0789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23272F"/>
                </a:solidFill>
              </a:defRPr>
            </a:pPr>
            <a:r>
              <a:t>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98755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216F7A"/>
                </a:solidFill>
              </a:defRPr>
            </a:pPr>
            <a:r>
              <a:t>The next pass should tune models around each competition metric.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587752"/>
            <a:ext cx="109728" cy="109728"/>
          </a:xfrm>
          <a:prstGeom prst="rect">
            <a:avLst/>
          </a:prstGeom>
          <a:solidFill>
            <a:srgbClr val="A6553D"/>
          </a:solidFill>
          <a:ln>
            <a:solidFill>
              <a:srgbClr val="A65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514600"/>
            <a:ext cx="9875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23272F"/>
                </a:solidFill>
              </a:defRPr>
            </a:pPr>
            <a:r>
              <a:t>Store: richer seasonal and holiday models.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502152"/>
            <a:ext cx="109728" cy="109728"/>
          </a:xfrm>
          <a:prstGeom prst="rect">
            <a:avLst/>
          </a:prstGeom>
          <a:solidFill>
            <a:srgbClr val="A6553D"/>
          </a:solidFill>
          <a:ln>
            <a:solidFill>
              <a:srgbClr val="A65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34440" y="3429000"/>
            <a:ext cx="9875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23272F"/>
                </a:solidFill>
              </a:defRPr>
            </a:pPr>
            <a:r>
              <a:t>House: stacked regularized and boosting models.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4416552"/>
            <a:ext cx="109728" cy="109728"/>
          </a:xfrm>
          <a:prstGeom prst="rect">
            <a:avLst/>
          </a:prstGeom>
          <a:solidFill>
            <a:srgbClr val="A6553D"/>
          </a:solidFill>
          <a:ln>
            <a:solidFill>
              <a:srgbClr val="A65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34440" y="4343400"/>
            <a:ext cx="9875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23272F"/>
                </a:solidFill>
              </a:defRPr>
            </a:pPr>
            <a:r>
              <a:t>SF Crime: calibrated ensembles with stronger spatial features.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4652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6464"/>
                </a:solidFill>
              </a:defRPr>
            </a:pPr>
            <a:r>
              <a:t>Juan Maldonado Franco | DDS-8555 Predictive Analysis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